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299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2_in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234440"/>
            <a:ext cx="1506346" cy="3246120"/>
          </a:xfrm>
          <a:prstGeom prst="rect">
            <a:avLst/>
          </a:prstGeom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pic>
      <p:pic>
        <p:nvPicPr>
          <p:cNvPr id="3" name="Image 1" descr="/home/claude/assets/s5_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713232"/>
            <a:ext cx="1902907" cy="4069080"/>
          </a:xfrm>
          <a:prstGeom prst="rect">
            <a:avLst/>
          </a:prstGeom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4" name="Shape 0"/>
          <p:cNvSpPr/>
          <p:nvPr/>
        </p:nvSpPr>
        <p:spPr>
          <a:xfrm>
            <a:off x="640080" y="1097280"/>
            <a:ext cx="2798064" cy="310896"/>
          </a:xfrm>
          <a:prstGeom prst="roundRect">
            <a:avLst>
              <a:gd name="adj" fmla="val 50000"/>
            </a:avLst>
          </a:prstGeom>
          <a:solidFill>
            <a:srgbClr val="1C2740"/>
          </a:solidFill>
          <a:ln/>
        </p:spPr>
      </p:sp>
      <p:sp>
        <p:nvSpPr>
          <p:cNvPr id="5" name="Text 1"/>
          <p:cNvSpPr/>
          <p:nvPr/>
        </p:nvSpPr>
        <p:spPr>
          <a:xfrm>
            <a:off x="640080" y="1097280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TEARDOWN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21792" y="1481328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Eureka</a:t>
            </a:r>
            <a:endParaRPr lang="en-US" sz="48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5B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ALLEN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640080" y="2971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Product Teardown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40080" y="34564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passive consumption to active mastery.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58368" y="4160520"/>
            <a:ext cx="914400" cy="0"/>
          </a:xfrm>
          <a:prstGeom prst="line">
            <a:avLst/>
          </a:prstGeom>
          <a:noFill/>
          <a:ln w="19050">
            <a:solidFill>
              <a:srgbClr val="2A355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4251960"/>
            <a:ext cx="5409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Ashutosh Singh		  ·  Product Manager Intern Assignment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1C27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EUREKA?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disguised as entertainment.</a:t>
            </a:r>
            <a:endParaRPr lang="en-US" sz="3200" dirty="0"/>
          </a:p>
        </p:txBody>
      </p:sp>
      <p:pic>
        <p:nvPicPr>
          <p:cNvPr id="5" name="Image 0" descr="/home/claude/assets/s2_in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600200"/>
            <a:ext cx="1463913" cy="3154680"/>
          </a:xfrm>
          <a:prstGeom prst="rect">
            <a:avLst/>
          </a:prstGeom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829737" y="482803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C2740"/>
          </a:solidFill>
          <a:ln/>
        </p:spPr>
      </p:sp>
      <p:sp>
        <p:nvSpPr>
          <p:cNvPr id="7" name="Text 4"/>
          <p:cNvSpPr/>
          <p:nvPr/>
        </p:nvSpPr>
        <p:spPr>
          <a:xfrm>
            <a:off x="5829737" y="48280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0:03</a:t>
            </a:r>
            <a:endParaRPr lang="en-US" sz="1000" dirty="0"/>
          </a:p>
        </p:txBody>
      </p:sp>
      <p:pic>
        <p:nvPicPr>
          <p:cNvPr id="8" name="Image 1" descr="/home/claude/assets/s2_tab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0625" y="1600200"/>
            <a:ext cx="1548062" cy="3154680"/>
          </a:xfrm>
          <a:prstGeom prst="rect">
            <a:avLst/>
          </a:prstGeom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7500316" y="482803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C2740"/>
          </a:solidFill>
          <a:ln/>
        </p:spPr>
      </p:sp>
      <p:sp>
        <p:nvSpPr>
          <p:cNvPr id="10" name="Text 6"/>
          <p:cNvSpPr/>
          <p:nvPr/>
        </p:nvSpPr>
        <p:spPr>
          <a:xfrm>
            <a:off x="7500316" y="48280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2:43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C2740"/>
          </a:solidFill>
          <a:ln w="15875">
            <a:solidFill>
              <a:srgbClr val="2E7DF7"/>
            </a:solidFill>
            <a:prstDash val="solid"/>
          </a:ln>
        </p:spPr>
      </p:sp>
      <p:pic>
        <p:nvPicPr>
          <p:cNvPr id="12" name="Image 2" descr="/home/claude/assets/ic_film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181965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16642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 proposition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143000" y="198424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whiteboard lectures with episodic, high-fidelity 3D storytelling to teach core STEM concepts.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1C2740"/>
          </a:solidFill>
          <a:ln w="15875">
            <a:solidFill>
              <a:srgbClr val="F5B544"/>
            </a:solidFill>
            <a:prstDash val="solid"/>
          </a:ln>
        </p:spPr>
      </p:sp>
      <p:pic>
        <p:nvPicPr>
          <p:cNvPr id="16" name="Image 3" descr="/home/claude/assets/ic_users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2825496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26700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user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143000" y="299008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10 students disengaged by textbooks — motivated by visual narratives and game mechanics.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1C2740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20" name="Image 4" descr="/home/claude/assets/ic_loop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" y="3831336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36758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1143000" y="4041648"/>
            <a:ext cx="960120" cy="457200"/>
          </a:xfrm>
          <a:prstGeom prst="roundRect">
            <a:avLst>
              <a:gd name="adj" fmla="val 20000"/>
            </a:avLst>
          </a:prstGeom>
          <a:solidFill>
            <a:srgbClr val="141B2E"/>
          </a:solidFill>
          <a:ln w="15875">
            <a:solidFill>
              <a:srgbClr val="2E7DF7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1143000" y="404164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2084832" y="404164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18"/>
          <p:cNvSpPr/>
          <p:nvPr/>
        </p:nvSpPr>
        <p:spPr>
          <a:xfrm>
            <a:off x="2377440" y="4041648"/>
            <a:ext cx="960120" cy="457200"/>
          </a:xfrm>
          <a:prstGeom prst="roundRect">
            <a:avLst>
              <a:gd name="adj" fmla="val 20000"/>
            </a:avLst>
          </a:prstGeom>
          <a:solidFill>
            <a:srgbClr val="141B2E"/>
          </a:solidFill>
          <a:ln w="15875">
            <a:solidFill>
              <a:srgbClr val="F5B544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2377440" y="404164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319272" y="404164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1"/>
          <p:cNvSpPr/>
          <p:nvPr/>
        </p:nvSpPr>
        <p:spPr>
          <a:xfrm>
            <a:off x="3611880" y="4041648"/>
            <a:ext cx="960120" cy="457200"/>
          </a:xfrm>
          <a:prstGeom prst="roundRect">
            <a:avLst>
              <a:gd name="adj" fmla="val 20000"/>
            </a:avLst>
          </a:prstGeom>
          <a:solidFill>
            <a:srgbClr val="141B2E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3611880" y="404164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505456" cy="310896"/>
          </a:xfrm>
          <a:prstGeom prst="roundRect">
            <a:avLst>
              <a:gd name="adj" fmla="val 50000"/>
            </a:avLst>
          </a:prstGeom>
          <a:solidFill>
            <a:srgbClr val="1C27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ONBOARDING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production value, low contextual activation.</a:t>
            </a:r>
            <a:endParaRPr lang="en-US" sz="3000" dirty="0"/>
          </a:p>
        </p:txBody>
      </p:sp>
      <p:pic>
        <p:nvPicPr>
          <p:cNvPr id="5" name="Image 0" descr="/home/claude/assets/s3_h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627632"/>
            <a:ext cx="1465503" cy="3108960"/>
          </a:xfrm>
          <a:prstGeom prst="rect">
            <a:avLst/>
          </a:prstGeom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876252" y="482803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C2740"/>
          </a:solidFill>
          <a:ln/>
        </p:spPr>
      </p:sp>
      <p:sp>
        <p:nvSpPr>
          <p:cNvPr id="7" name="Text 4"/>
          <p:cNvSpPr/>
          <p:nvPr/>
        </p:nvSpPr>
        <p:spPr>
          <a:xfrm>
            <a:off x="5876252" y="48280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0:08</a:t>
            </a:r>
            <a:endParaRPr lang="en-US" sz="1000" dirty="0"/>
          </a:p>
        </p:txBody>
      </p:sp>
      <p:pic>
        <p:nvPicPr>
          <p:cNvPr id="8" name="Image 1" descr="/home/claude/assets/s3_noti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6223" y="2057400"/>
            <a:ext cx="1412791" cy="2697480"/>
          </a:xfrm>
          <a:prstGeom prst="rect">
            <a:avLst/>
          </a:prstGeom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7498279" y="482803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C2740"/>
          </a:solidFill>
          <a:ln/>
        </p:spPr>
      </p:sp>
      <p:sp>
        <p:nvSpPr>
          <p:cNvPr id="10" name="Text 6"/>
          <p:cNvSpPr/>
          <p:nvPr/>
        </p:nvSpPr>
        <p:spPr>
          <a:xfrm>
            <a:off x="7498279" y="48280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48640" y="1627632"/>
            <a:ext cx="4709160" cy="969264"/>
          </a:xfrm>
          <a:prstGeom prst="roundRect">
            <a:avLst>
              <a:gd name="adj" fmla="val 8491"/>
            </a:avLst>
          </a:prstGeom>
          <a:solidFill>
            <a:srgbClr val="141B2E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49808" y="1828800"/>
            <a:ext cx="420624" cy="420624"/>
          </a:xfrm>
          <a:prstGeom prst="ellipse">
            <a:avLst/>
          </a:prstGeom>
          <a:solidFill>
            <a:srgbClr val="1C2740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13" name="Image 2" descr="/home/claude/assets/ic_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583" y="1946575"/>
            <a:ext cx="185075" cy="1850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17922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good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98448" y="208483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 cinematic is visually stunning and instantly sets a premium tone.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2697480"/>
            <a:ext cx="4709160" cy="969264"/>
          </a:xfrm>
          <a:prstGeom prst="roundRect">
            <a:avLst>
              <a:gd name="adj" fmla="val 8491"/>
            </a:avLst>
          </a:prstGeom>
          <a:solidFill>
            <a:srgbClr val="141B2E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9808" y="2898648"/>
            <a:ext cx="420624" cy="420624"/>
          </a:xfrm>
          <a:prstGeom prst="ellipse">
            <a:avLst/>
          </a:prstGeom>
          <a:solidFill>
            <a:srgbClr val="1C2740"/>
          </a:solidFill>
          <a:ln w="15875">
            <a:solidFill>
              <a:srgbClr val="F5B544"/>
            </a:solidFill>
            <a:prstDash val="solid"/>
          </a:ln>
        </p:spPr>
      </p:sp>
      <p:pic>
        <p:nvPicPr>
          <p:cNvPr id="18" name="Image 3" descr="/home/claude/assets/ic_warn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583" y="3016423"/>
            <a:ext cx="185075" cy="1850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98448" y="28620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flaw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298448" y="315468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after, a generic “Allow Notifications” prompt appears — with zero context on why it matters.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3767328"/>
            <a:ext cx="4709160" cy="1060704"/>
          </a:xfrm>
          <a:prstGeom prst="roundRect">
            <a:avLst>
              <a:gd name="adj" fmla="val 7759"/>
            </a:avLst>
          </a:prstGeom>
          <a:solidFill>
            <a:srgbClr val="141B2E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49808" y="3968496"/>
            <a:ext cx="420624" cy="420624"/>
          </a:xfrm>
          <a:prstGeom prst="ellipse">
            <a:avLst/>
          </a:prstGeom>
          <a:solidFill>
            <a:srgbClr val="1C2740"/>
          </a:solidFill>
          <a:ln w="15875">
            <a:solidFill>
              <a:srgbClr val="F87171"/>
            </a:solidFill>
            <a:prstDash val="solid"/>
          </a:ln>
        </p:spPr>
      </p:sp>
      <p:pic>
        <p:nvPicPr>
          <p:cNvPr id="23" name="Image 4" descr="/home/claude/assets/ic_down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583" y="4086271"/>
            <a:ext cx="185075" cy="18507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98448" y="39319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1298448" y="4224528"/>
            <a:ext cx="3794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likely tap “Don’t Allow,” crippling the app’s single most important re-engagement lever.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505456" cy="310896"/>
          </a:xfrm>
          <a:prstGeom prst="roundRect">
            <a:avLst>
              <a:gd name="adj" fmla="val 50000"/>
            </a:avLst>
          </a:prstGeom>
          <a:solidFill>
            <a:srgbClr val="1C27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WORKING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Hooking users with streaks &amp; stories.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2496312" cy="3456432"/>
          </a:xfrm>
          <a:prstGeom prst="roundRect">
            <a:avLst>
              <a:gd name="adj" fmla="val 3663"/>
            </a:avLst>
          </a:prstGeom>
          <a:solidFill>
            <a:srgbClr val="141B2E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682496"/>
            <a:ext cx="457200" cy="457200"/>
          </a:xfrm>
          <a:prstGeom prst="ellipse">
            <a:avLst/>
          </a:prstGeom>
          <a:solidFill>
            <a:srgbClr val="1C2740"/>
          </a:solidFill>
          <a:ln w="15875">
            <a:solidFill>
              <a:srgbClr val="2E7DF7"/>
            </a:solidFill>
            <a:prstDash val="solid"/>
          </a:ln>
        </p:spPr>
      </p:sp>
      <p:pic>
        <p:nvPicPr>
          <p:cNvPr id="7" name="Image 0" descr="/home/claude/assets/ic_school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81051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171907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9808" y="2231136"/>
            <a:ext cx="209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“Trending in Nearby Schools” is a sharp PLG tactic — it manufactures FOMO and local relevance.</a:t>
            </a:r>
            <a:endParaRPr lang="en-US" sz="1150" dirty="0"/>
          </a:p>
        </p:txBody>
      </p:sp>
      <p:pic>
        <p:nvPicPr>
          <p:cNvPr id="10" name="Image 1" descr="/home/claude/assets/s4_tren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562" y="3200400"/>
            <a:ext cx="702468" cy="1481328"/>
          </a:xfrm>
          <a:prstGeom prst="rect">
            <a:avLst/>
          </a:prstGeom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1362456" y="455371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C2740"/>
          </a:solidFill>
          <a:ln/>
        </p:spPr>
      </p:sp>
      <p:sp>
        <p:nvSpPr>
          <p:cNvPr id="12" name="Text 8"/>
          <p:cNvSpPr/>
          <p:nvPr/>
        </p:nvSpPr>
        <p:spPr>
          <a:xfrm>
            <a:off x="1362456" y="45537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1:05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323844" y="1481328"/>
            <a:ext cx="2496312" cy="3456432"/>
          </a:xfrm>
          <a:prstGeom prst="roundRect">
            <a:avLst>
              <a:gd name="adj" fmla="val 3663"/>
            </a:avLst>
          </a:prstGeom>
          <a:solidFill>
            <a:srgbClr val="141B2E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525012" y="1682496"/>
            <a:ext cx="457200" cy="457200"/>
          </a:xfrm>
          <a:prstGeom prst="ellipse">
            <a:avLst/>
          </a:prstGeom>
          <a:solidFill>
            <a:srgbClr val="1C2740"/>
          </a:solidFill>
          <a:ln w="15875">
            <a:solidFill>
              <a:srgbClr val="F5B544"/>
            </a:solidFill>
            <a:prstDash val="solid"/>
          </a:ln>
        </p:spPr>
      </p:sp>
      <p:pic>
        <p:nvPicPr>
          <p:cNvPr id="15" name="Image 2" descr="/home/claude/assets/ic_trophy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3028" y="1810512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073652" y="171907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engine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525012" y="2231136"/>
            <a:ext cx="209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%, badges &amp; streaks tap the dopamine loops this demo already knows (Duolingo, Snapchat).</a:t>
            </a:r>
            <a:endParaRPr lang="en-US" sz="1150" dirty="0"/>
          </a:p>
        </p:txBody>
      </p:sp>
      <p:pic>
        <p:nvPicPr>
          <p:cNvPr id="18" name="Image 3" descr="/home/claude/assets/s4_progre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4445" y="3200400"/>
            <a:ext cx="695111" cy="1481328"/>
          </a:xfrm>
          <a:prstGeom prst="rect">
            <a:avLst/>
          </a:prstGeom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19" name="Shape 13"/>
          <p:cNvSpPr/>
          <p:nvPr/>
        </p:nvSpPr>
        <p:spPr>
          <a:xfrm>
            <a:off x="4137660" y="455371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C2740"/>
          </a:solidFill>
          <a:ln/>
        </p:spPr>
      </p:sp>
      <p:sp>
        <p:nvSpPr>
          <p:cNvPr id="20" name="Text 14"/>
          <p:cNvSpPr/>
          <p:nvPr/>
        </p:nvSpPr>
        <p:spPr>
          <a:xfrm>
            <a:off x="4137660" y="45537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1:52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099048" y="1481328"/>
            <a:ext cx="2496312" cy="3456432"/>
          </a:xfrm>
          <a:prstGeom prst="roundRect">
            <a:avLst>
              <a:gd name="adj" fmla="val 3663"/>
            </a:avLst>
          </a:prstGeom>
          <a:solidFill>
            <a:srgbClr val="141B2E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300216" y="1682496"/>
            <a:ext cx="457200" cy="457200"/>
          </a:xfrm>
          <a:prstGeom prst="ellipse">
            <a:avLst/>
          </a:prstGeom>
          <a:solidFill>
            <a:srgbClr val="1C2740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23" name="Image 4" descr="/home/claude/assets/ic_fire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1810512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48856" y="171907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 &amp; leaderboards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6300216" y="2231136"/>
            <a:ext cx="209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“Active Champs” day-streaks turn study into a daily habit; episodes chunk daunting chapters.</a:t>
            </a:r>
            <a:endParaRPr lang="en-US" sz="1150" dirty="0"/>
          </a:p>
        </p:txBody>
      </p:sp>
      <p:pic>
        <p:nvPicPr>
          <p:cNvPr id="26" name="Image 5" descr="/home/claude/assets/s4_champ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0688" y="3200400"/>
            <a:ext cx="773032" cy="1481328"/>
          </a:xfrm>
          <a:prstGeom prst="rect">
            <a:avLst/>
          </a:prstGeom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27" name="Shape 19"/>
          <p:cNvSpPr/>
          <p:nvPr/>
        </p:nvSpPr>
        <p:spPr>
          <a:xfrm>
            <a:off x="6912864" y="455371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C2740"/>
          </a:solidFill>
          <a:ln/>
        </p:spPr>
      </p:sp>
      <p:sp>
        <p:nvSpPr>
          <p:cNvPr id="28" name="Text 20"/>
          <p:cNvSpPr/>
          <p:nvPr/>
        </p:nvSpPr>
        <p:spPr>
          <a:xfrm>
            <a:off x="6912864" y="45537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090672" cy="310896"/>
          </a:xfrm>
          <a:prstGeom prst="roundRect">
            <a:avLst>
              <a:gd name="adj" fmla="val 50000"/>
            </a:avLst>
          </a:prstGeom>
          <a:solidFill>
            <a:srgbClr val="1C27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NOT WORKING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“Netflix illusion” adds cognitive load.</a:t>
            </a:r>
            <a:endParaRPr lang="en-US" sz="3000" dirty="0"/>
          </a:p>
        </p:txBody>
      </p:sp>
      <p:pic>
        <p:nvPicPr>
          <p:cNvPr id="5" name="Image 0" descr="/home/claude/assets/s5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627632"/>
            <a:ext cx="1462459" cy="3127248"/>
          </a:xfrm>
          <a:prstGeom prst="rect">
            <a:avLst/>
          </a:prstGeom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920449" y="484632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C2740"/>
          </a:solidFill>
          <a:ln/>
        </p:spPr>
      </p:sp>
      <p:sp>
        <p:nvSpPr>
          <p:cNvPr id="7" name="Text 4"/>
          <p:cNvSpPr/>
          <p:nvPr/>
        </p:nvSpPr>
        <p:spPr>
          <a:xfrm>
            <a:off x="5920449" y="4846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0:16</a:t>
            </a:r>
            <a:endParaRPr lang="en-US" sz="1000" dirty="0"/>
          </a:p>
        </p:txBody>
      </p:sp>
      <p:pic>
        <p:nvPicPr>
          <p:cNvPr id="8" name="Image 1" descr="/home/claude/assets/s5_lock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0611" y="1627632"/>
            <a:ext cx="1427272" cy="3127248"/>
          </a:xfrm>
          <a:prstGeom prst="rect">
            <a:avLst/>
          </a:prstGeom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7529907" y="484632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C2740"/>
          </a:solidFill>
          <a:ln/>
        </p:spPr>
      </p:sp>
      <p:sp>
        <p:nvSpPr>
          <p:cNvPr id="10" name="Text 6"/>
          <p:cNvSpPr/>
          <p:nvPr/>
        </p:nvSpPr>
        <p:spPr>
          <a:xfrm>
            <a:off x="7529907" y="4846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1:54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48640" y="1554480"/>
            <a:ext cx="420624" cy="420624"/>
          </a:xfrm>
          <a:prstGeom prst="ellipse">
            <a:avLst/>
          </a:prstGeom>
          <a:solidFill>
            <a:srgbClr val="1C2740"/>
          </a:solidFill>
          <a:ln w="15875">
            <a:solidFill>
              <a:srgbClr val="2E7DF7"/>
            </a:solidFill>
            <a:prstDash val="solid"/>
          </a:ln>
        </p:spPr>
      </p:sp>
      <p:pic>
        <p:nvPicPr>
          <p:cNvPr id="12" name="Image 2" descr="/home/claude/assets/ic_layers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415" y="1672255"/>
            <a:ext cx="185075" cy="1850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1517904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7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architecture —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UX mimics streaming: great for browsing movies, wrong for structured study. The student must guess what’s next.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2395728"/>
            <a:ext cx="420624" cy="420624"/>
          </a:xfrm>
          <a:prstGeom prst="ellipse">
            <a:avLst/>
          </a:prstGeom>
          <a:solidFill>
            <a:srgbClr val="1C2740"/>
          </a:solidFill>
          <a:ln w="15875">
            <a:solidFill>
              <a:srgbClr val="F5B544"/>
            </a:solidFill>
            <a:prstDash val="solid"/>
          </a:ln>
        </p:spPr>
      </p:sp>
      <p:pic>
        <p:nvPicPr>
          <p:cNvPr id="15" name="Image 3" descr="/home/claude/assets/ic_route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415" y="2513503"/>
            <a:ext cx="185075" cy="1850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2359152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friction —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taps to reach practice: subject → chapter → enroll → “Ace” tab → launch test.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48640" y="3200400"/>
            <a:ext cx="420624" cy="420624"/>
          </a:xfrm>
          <a:prstGeom prst="ellipse">
            <a:avLst/>
          </a:prstGeom>
          <a:solidFill>
            <a:srgbClr val="1C2740"/>
          </a:solidFill>
          <a:ln w="15875">
            <a:solidFill>
              <a:srgbClr val="F87171"/>
            </a:solidFill>
            <a:prstDash val="solid"/>
          </a:ln>
        </p:spPr>
      </p:sp>
      <p:pic>
        <p:nvPicPr>
          <p:cNvPr id="18" name="Image 4" descr="/home/claude/assets/ic_compass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415" y="3318175"/>
            <a:ext cx="185075" cy="1850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97280" y="3163824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“start here” —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 see an empty profile and 0% progress, but get no clear first-step call to action.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548640" y="3977640"/>
            <a:ext cx="420624" cy="420624"/>
          </a:xfrm>
          <a:prstGeom prst="ellipse">
            <a:avLst/>
          </a:prstGeom>
          <a:solidFill>
            <a:srgbClr val="1C2740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21" name="Image 5" descr="/home/claude/assets/ic_comment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415" y="4095415"/>
            <a:ext cx="185075" cy="18507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97280" y="3941064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in-context doubts —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mid-lecture or mid-quiz there’s no way to ask a quick question. A floating AI button / corner-swipe should solve doubts without leaving the screen.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36976" cy="310896"/>
          </a:xfrm>
          <a:prstGeom prst="roundRect">
            <a:avLst>
              <a:gd name="adj" fmla="val 50000"/>
            </a:avLst>
          </a:prstGeom>
          <a:solidFill>
            <a:srgbClr val="1C27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Proactive AI: from browsing to guided missions.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438912" cy="438912"/>
          </a:xfrm>
          <a:prstGeom prst="ellipse">
            <a:avLst/>
          </a:prstGeom>
          <a:solidFill>
            <a:srgbClr val="1C2740"/>
          </a:solidFill>
          <a:ln w="15875">
            <a:solidFill>
              <a:srgbClr val="F87171"/>
            </a:solidFill>
            <a:prstDash val="solid"/>
          </a:ln>
        </p:spPr>
      </p:sp>
      <p:pic>
        <p:nvPicPr>
          <p:cNvPr id="6" name="Image 0" descr="/home/claude/assets/ic_robot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" y="1631655"/>
            <a:ext cx="193121" cy="1931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4721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15568" y="1773936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“Allie” is buried as a reactive tool — students open it only when they’re already stuck.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395728"/>
            <a:ext cx="438912" cy="438912"/>
          </a:xfrm>
          <a:prstGeom prst="ellipse">
            <a:avLst/>
          </a:prstGeom>
          <a:solidFill>
            <a:srgbClr val="1C2740"/>
          </a:solidFill>
          <a:ln w="15875">
            <a:solidFill>
              <a:srgbClr val="F5B544"/>
            </a:solidFill>
            <a:prstDash val="solid"/>
          </a:ln>
        </p:spPr>
      </p:sp>
      <p:pic>
        <p:nvPicPr>
          <p:cNvPr id="10" name="Image 1" descr="/home/claude/assets/ic_bolt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" y="2518623"/>
            <a:ext cx="193121" cy="1931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15568" y="23591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15568" y="2660904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Allie the proactive center of the app, not a help desk hidden in a tab.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282696"/>
            <a:ext cx="438912" cy="438912"/>
          </a:xfrm>
          <a:prstGeom prst="ellipse">
            <a:avLst/>
          </a:prstGeom>
          <a:solidFill>
            <a:srgbClr val="1C2740"/>
          </a:solidFill>
          <a:ln w="15875">
            <a:solidFill>
              <a:srgbClr val="2E7DF7"/>
            </a:solidFill>
            <a:prstDash val="solid"/>
          </a:ln>
        </p:spPr>
      </p:sp>
      <p:pic>
        <p:nvPicPr>
          <p:cNvPr id="14" name="Image 2" descr="/home/claude/assets/ic_rout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35" y="3405591"/>
            <a:ext cx="193121" cy="1931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15568" y="32461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15568" y="3547872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first login Allie asks “What are you struggling with?” → auto-builds a Daily Mission on the home screen.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169664"/>
            <a:ext cx="438912" cy="438912"/>
          </a:xfrm>
          <a:prstGeom prst="ellipse">
            <a:avLst/>
          </a:prstGeom>
          <a:solidFill>
            <a:srgbClr val="1C2740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18" name="Image 3" descr="/home/claude/assets/ic_check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35" y="4292559"/>
            <a:ext cx="193121" cy="19312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15568" y="41330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115568" y="443484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time-to-value, kills browsing fatigue, turns a passive video library into a personal AI tutor.</a:t>
            </a:r>
            <a:endParaRPr lang="en-US" sz="1150" dirty="0"/>
          </a:p>
        </p:txBody>
      </p:sp>
      <p:pic>
        <p:nvPicPr>
          <p:cNvPr id="21" name="Image 4" descr="/home/claude/assets/s6_alli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0" y="1325880"/>
            <a:ext cx="1533236" cy="3291840"/>
          </a:xfrm>
          <a:prstGeom prst="rect">
            <a:avLst/>
          </a:prstGeom>
          <a:effectLst>
            <a:outerShdw blurRad="177800" dist="63500" dir="5400000" algn="bl" rotWithShape="0">
              <a:srgbClr val="000000">
                <a:alpha val="55000"/>
              </a:srgbClr>
            </a:outerShdw>
          </a:effectLst>
        </p:spPr>
      </p:pic>
      <p:sp>
        <p:nvSpPr>
          <p:cNvPr id="22" name="Shape 15"/>
          <p:cNvSpPr/>
          <p:nvPr/>
        </p:nvSpPr>
        <p:spPr>
          <a:xfrm>
            <a:off x="4800600" y="1417320"/>
            <a:ext cx="2240280" cy="3154680"/>
          </a:xfrm>
          <a:prstGeom prst="roundRect">
            <a:avLst>
              <a:gd name="adj" fmla="val 4898"/>
            </a:avLst>
          </a:prstGeom>
          <a:solidFill>
            <a:srgbClr val="141B2E"/>
          </a:solidFill>
          <a:ln w="19050">
            <a:solidFill>
              <a:srgbClr val="2E7DF7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4983480" y="15819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4983480" y="1874520"/>
            <a:ext cx="457200" cy="457200"/>
          </a:xfrm>
          <a:prstGeom prst="ellipse">
            <a:avLst/>
          </a:prstGeom>
          <a:solidFill>
            <a:srgbClr val="1C2740"/>
          </a:solidFill>
          <a:ln w="15875">
            <a:solidFill>
              <a:srgbClr val="2E7DF7"/>
            </a:solidFill>
            <a:prstDash val="solid"/>
          </a:ln>
        </p:spPr>
      </p:sp>
      <p:pic>
        <p:nvPicPr>
          <p:cNvPr id="25" name="Image 5" descr="/home/claude/assets/ic_robo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1496" y="2002536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532120" y="189280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Mission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4983480" y="251460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C2740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28" name="Image 6" descr="/home/claude/assets/ic_check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2532888"/>
            <a:ext cx="201168" cy="20116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312664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Ep.1 — Chemical Reactions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4983480" y="301752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C2740"/>
          </a:solidFill>
          <a:ln w="15875">
            <a:solidFill>
              <a:srgbClr val="2A3552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5312664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5-question quiz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4983480" y="352044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C2740"/>
          </a:solidFill>
          <a:ln w="15875">
            <a:solidFill>
              <a:srgbClr val="2A355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5312664" y="3474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flagged doubts</a:t>
            </a:r>
            <a:endParaRPr lang="en-US" sz="1050" dirty="0"/>
          </a:p>
        </p:txBody>
      </p:sp>
      <p:sp>
        <p:nvSpPr>
          <p:cNvPr id="34" name="Text 25"/>
          <p:cNvSpPr/>
          <p:nvPr/>
        </p:nvSpPr>
        <p:spPr>
          <a:xfrm>
            <a:off x="4983480" y="37490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3 done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4983480" y="4005072"/>
            <a:ext cx="1874520" cy="146304"/>
          </a:xfrm>
          <a:prstGeom prst="roundRect">
            <a:avLst>
              <a:gd name="adj" fmla="val 50000"/>
            </a:avLst>
          </a:prstGeom>
          <a:solidFill>
            <a:srgbClr val="1C2740"/>
          </a:solidFill>
          <a:ln/>
        </p:spPr>
      </p:sp>
      <p:sp>
        <p:nvSpPr>
          <p:cNvPr id="36" name="Shape 27"/>
          <p:cNvSpPr/>
          <p:nvPr/>
        </p:nvSpPr>
        <p:spPr>
          <a:xfrm>
            <a:off x="4983480" y="4005072"/>
            <a:ext cx="637337" cy="146304"/>
          </a:xfrm>
          <a:prstGeom prst="roundRect">
            <a:avLst>
              <a:gd name="adj" fmla="val 50000"/>
            </a:avLst>
          </a:prstGeom>
          <a:solidFill>
            <a:srgbClr val="2E7DF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467</Words>
  <Application>Microsoft Office PowerPoint</Application>
  <PresentationFormat>On-screen Show (16:9)</PresentationFormat>
  <Paragraphs>71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Eureka by ALLEN — Product Teardown</dc:title>
  <dc:subject>PptxGenJS Presentation</dc:subject>
  <dc:creator>Product Teardown</dc:creator>
  <cp:lastModifiedBy>Ashutosh Singh</cp:lastModifiedBy>
  <cp:revision>2</cp:revision>
  <dcterms:created xsi:type="dcterms:W3CDTF">2026-06-13T21:53:22Z</dcterms:created>
  <dcterms:modified xsi:type="dcterms:W3CDTF">2026-06-13T21:55:50Z</dcterms:modified>
</cp:coreProperties>
</file>